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7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nrafasaid35-said.github.io/ANRAFA-SAID-AfriTalen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15915C-2C6A-8AD4-28E5-D28EA1E4C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279" y="965200"/>
            <a:ext cx="9032241" cy="2286000"/>
          </a:xfrm>
        </p:spPr>
        <p:txBody>
          <a:bodyPr>
            <a:prstTxWarp prst="textDeflate">
              <a:avLst>
                <a:gd name="adj" fmla="val 17739"/>
              </a:avLst>
            </a:prstTxWarp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b="1" dirty="0">
                <a:ln/>
                <a:solidFill>
                  <a:schemeClr val="accent4"/>
                </a:solidFill>
              </a:rPr>
              <a:t>AFRITALANT</a:t>
            </a:r>
            <a:endParaRPr lang="fr-FR" b="1" dirty="0">
              <a:ln/>
              <a:solidFill>
                <a:schemeClr val="accent4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4F1423-5ADC-3D6F-ACA0-B0BFBF817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4836160"/>
            <a:ext cx="5455920" cy="1463040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Baskerville Old Face" panose="02020602080505020303" pitchFamily="18" charset="0"/>
              </a:rPr>
              <a:t>Réalisé par : [ANRAFA SAID]</a:t>
            </a:r>
          </a:p>
          <a:p>
            <a:r>
              <a:rPr lang="fr-FR" sz="2400" dirty="0">
                <a:latin typeface="Baskerville Old Face" panose="02020602080505020303" pitchFamily="18" charset="0"/>
              </a:rPr>
              <a:t>Classe : [L1 DATA &amp;BIG DATA]</a:t>
            </a:r>
          </a:p>
          <a:p>
            <a:r>
              <a:rPr lang="fr-FR" sz="2400" dirty="0">
                <a:latin typeface="Baskerville Old Face" panose="02020602080505020303" pitchFamily="18" charset="0"/>
              </a:rPr>
              <a:t>Date : [LE 24/06/2026]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04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26D12F-4349-6B37-74F3-5571F5D31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640" y="533998"/>
            <a:ext cx="7284720" cy="1010322"/>
          </a:xfrm>
        </p:spPr>
        <p:txBody>
          <a:bodyPr/>
          <a:lstStyle/>
          <a:p>
            <a:r>
              <a:rPr lang="fr-FR" dirty="0"/>
              <a:t>                 </a:t>
            </a:r>
            <a:r>
              <a:rPr lang="fr-FR" dirty="0">
                <a:latin typeface="Algerian" panose="04020705040A02060702" pitchFamily="82" charset="0"/>
              </a:rPr>
              <a:t>SOMMAIRE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4FAD1E-641B-F64F-1FD8-150231397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0" y="2113281"/>
            <a:ext cx="8575040" cy="393192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Présentation du projet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Choix du design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Architecture du site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Points techniques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Gestion du projet avec GitHub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Difficultés rencontrées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Ressources utilisées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Démonstration du site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Conclusion et perspective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8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3A782-D684-69BE-07DE-FECBF704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41959"/>
            <a:ext cx="9404723" cy="1233351"/>
          </a:xfrm>
        </p:spPr>
        <p:txBody>
          <a:bodyPr/>
          <a:lstStyle/>
          <a:p>
            <a:r>
              <a:rPr lang="fr-FR" dirty="0"/>
              <a:t>           </a:t>
            </a:r>
            <a:r>
              <a:rPr lang="fr-FR" dirty="0">
                <a:latin typeface="Algerian" panose="04020705040A02060702" pitchFamily="82" charset="0"/>
              </a:rPr>
              <a:t>I. Présentation du projet </a:t>
            </a:r>
            <a:br>
              <a:rPr lang="fr-FR" dirty="0">
                <a:latin typeface="Algerian" panose="04020705040A02060702" pitchFamily="82" charset="0"/>
              </a:rPr>
            </a:br>
            <a:endParaRPr lang="fr-FR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33FF15-64A3-D110-3244-03243C3A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384" y="1574799"/>
            <a:ext cx="10608130" cy="51569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8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8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8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8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fr-FR" sz="28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fr-FR" sz="28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64484A4-5719-2334-B174-C12674721DF2}"/>
              </a:ext>
            </a:extLst>
          </p:cNvPr>
          <p:cNvSpPr/>
          <p:nvPr/>
        </p:nvSpPr>
        <p:spPr>
          <a:xfrm>
            <a:off x="6205951" y="1841863"/>
            <a:ext cx="5388429" cy="202474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Contexte :  Projet fil rouge développé dans le cadre du module de Développement Web (Licence 1 DS&amp;BD à l'ISI</a:t>
            </a:r>
            <a:r>
              <a:rPr lang="fr-FR" sz="1800" dirty="0">
                <a:latin typeface="Baskerville Old Face" panose="02020602080505020303" pitchFamily="18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4271C7D-7E1E-CD21-00C1-443D48F6FDC1}"/>
              </a:ext>
            </a:extLst>
          </p:cNvPr>
          <p:cNvSpPr/>
          <p:nvPr/>
        </p:nvSpPr>
        <p:spPr>
          <a:xfrm>
            <a:off x="1238070" y="2934788"/>
            <a:ext cx="5388430" cy="202474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Objectif :  Créer une plateforme web moderne, interactive et responsive pour faciliter la mise en relation professionnelle.</a:t>
            </a:r>
          </a:p>
          <a:p>
            <a:endParaRPr lang="fr-FR" sz="1800" dirty="0"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C2914C3-BB20-4562-79B6-AA181530E37A}"/>
              </a:ext>
            </a:extLst>
          </p:cNvPr>
          <p:cNvSpPr/>
          <p:nvPr/>
        </p:nvSpPr>
        <p:spPr>
          <a:xfrm>
            <a:off x="5567681" y="4459876"/>
            <a:ext cx="5388429" cy="210529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800" dirty="0">
                <a:latin typeface="Baskerville Old Face" panose="02020602080505020303" pitchFamily="18" charset="0"/>
                <a:cs typeface="Arial" panose="020B0604020202020204" pitchFamily="34" charset="0"/>
              </a:rPr>
              <a:t> </a:t>
            </a:r>
            <a:r>
              <a:rPr lang="fr-FR" sz="2000" dirty="0">
                <a:latin typeface="Baskerville Old Face" panose="02020602080505020303" pitchFamily="18" charset="0"/>
                <a:cs typeface="Arial" panose="020B0604020202020204" pitchFamily="34" charset="0"/>
              </a:rPr>
              <a:t>Public cible :  Les freelances africains (pour proposer leurs services) et les clients ou entreprises (pour trouver des talents).</a:t>
            </a:r>
          </a:p>
        </p:txBody>
      </p:sp>
    </p:spTree>
    <p:extLst>
      <p:ext uri="{BB962C8B-B14F-4D97-AF65-F5344CB8AC3E}">
        <p14:creationId xmlns:p14="http://schemas.microsoft.com/office/powerpoint/2010/main" val="148706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88018-9787-1492-E262-3DE7BEC36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00" y="609601"/>
            <a:ext cx="8476034" cy="1097280"/>
          </a:xfrm>
        </p:spPr>
        <p:txBody>
          <a:bodyPr/>
          <a:lstStyle/>
          <a:p>
            <a:r>
              <a:rPr lang="fr-FR" dirty="0"/>
              <a:t>            </a:t>
            </a:r>
            <a:r>
              <a:rPr lang="fr-FR" dirty="0">
                <a:latin typeface="Algerian" panose="04020705040A02060702" pitchFamily="82" charset="0"/>
              </a:rPr>
              <a:t>II. Choix du design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E17BF1-DC6A-D22A-E301-FA4BA2759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920" y="1706881"/>
            <a:ext cx="9194800" cy="495517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fr-FR" sz="3400" dirty="0">
                <a:latin typeface="Arial Black" panose="020B0A04020102020204" pitchFamily="34" charset="0"/>
              </a:rPr>
              <a:t>Couleurs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600" dirty="0">
                <a:latin typeface="Baskerville Old Face" panose="02020602080505020303" pitchFamily="18" charset="0"/>
              </a:rPr>
              <a:t>Palette de couleurs :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6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fr-FR" sz="26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600" dirty="0">
                <a:latin typeface="Baskerville Old Face" panose="02020602080505020303" pitchFamily="18" charset="0"/>
              </a:rPr>
              <a:t>Justification :                                 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279CC0D-0871-F525-845E-7C03CA68BA87}"/>
              </a:ext>
            </a:extLst>
          </p:cNvPr>
          <p:cNvSpPr/>
          <p:nvPr/>
        </p:nvSpPr>
        <p:spPr>
          <a:xfrm>
            <a:off x="5431971" y="1882142"/>
            <a:ext cx="5050971" cy="209549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latin typeface="Baskerville Old Face" panose="02020602080505020303" pitchFamily="18" charset="0"/>
              </a:rPr>
              <a:t> Bleu (⁠#007bff⁠) : Professionnalisme et confiance.</a:t>
            </a:r>
          </a:p>
          <a:p>
            <a:pPr lvl="1"/>
            <a:r>
              <a:rPr lang="fr-FR" sz="2000" dirty="0">
                <a:latin typeface="Baskerville Old Face" panose="02020602080505020303" pitchFamily="18" charset="0"/>
              </a:rPr>
              <a:t> Gris sombre (⁠#343a40⁠) : Modernité et structure.</a:t>
            </a:r>
          </a:p>
          <a:p>
            <a:pPr lvl="1"/>
            <a:r>
              <a:rPr lang="fr-FR" sz="2000" dirty="0">
                <a:latin typeface="Baskerville Old Face" panose="02020602080505020303" pitchFamily="18" charset="0"/>
              </a:rPr>
              <a:t> Vert (⁠#28a745⁠) : Dynamisme et actions positives.</a:t>
            </a:r>
          </a:p>
          <a:p>
            <a:pPr marL="457200" lvl="1" indent="0">
              <a:buNone/>
            </a:pPr>
            <a:endParaRPr lang="fr-FR" sz="1800" dirty="0">
              <a:latin typeface="Baskerville Old Face" panose="02020602080505020303" pitchFamily="18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105E923-C75F-3A57-EC3D-16375533E808}"/>
              </a:ext>
            </a:extLst>
          </p:cNvPr>
          <p:cNvSpPr/>
          <p:nvPr/>
        </p:nvSpPr>
        <p:spPr>
          <a:xfrm>
            <a:off x="3297645" y="4437020"/>
            <a:ext cx="5383349" cy="20954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latin typeface="Baskerville Old Face" panose="02020602080505020303" pitchFamily="18" charset="0"/>
              </a:rPr>
              <a:t> Identité : Palette équilibrée, alliant sérieux institutionnel et vitalité du marché freelance.</a:t>
            </a:r>
          </a:p>
          <a:p>
            <a:pPr lvl="1"/>
            <a:r>
              <a:rPr lang="fr-FR" sz="2000" dirty="0">
                <a:latin typeface="Baskerville Old Face" panose="02020602080505020303" pitchFamily="18" charset="0"/>
              </a:rPr>
              <a:t> UX : Contraste optimisé pour le mode sombre/clair et confort visuel accru.</a:t>
            </a:r>
          </a:p>
          <a:p>
            <a:pPr lvl="1"/>
            <a:r>
              <a:rPr lang="fr-FR" sz="2000" dirty="0">
                <a:latin typeface="Baskerville Old Face" panose="02020602080505020303" pitchFamily="18" charset="0"/>
              </a:rPr>
              <a:t> Cohérence : Utilisation standardisée pour une navigation intuitive et fluide.</a:t>
            </a:r>
          </a:p>
        </p:txBody>
      </p:sp>
    </p:spTree>
    <p:extLst>
      <p:ext uri="{BB962C8B-B14F-4D97-AF65-F5344CB8AC3E}">
        <p14:creationId xmlns:p14="http://schemas.microsoft.com/office/powerpoint/2010/main" val="304323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94C2C-EB67-E4F6-D625-529FB9F84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60" y="609601"/>
            <a:ext cx="8453120" cy="1400530"/>
          </a:xfrm>
        </p:spPr>
        <p:txBody>
          <a:bodyPr/>
          <a:lstStyle/>
          <a:p>
            <a:r>
              <a:rPr lang="fr-FR" dirty="0"/>
              <a:t>         </a:t>
            </a:r>
            <a:r>
              <a:rPr lang="fr-FR" dirty="0">
                <a:latin typeface="Algerian" panose="04020705040A02060702" pitchFamily="82" charset="0"/>
              </a:rPr>
              <a:t>III. Architecture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41DFDE-932A-0DBE-1ACE-1AF9C66AA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760" y="1687285"/>
            <a:ext cx="10429240" cy="4887685"/>
          </a:xfrm>
        </p:spPr>
        <p:txBody>
          <a:bodyPr/>
          <a:lstStyle/>
          <a:p>
            <a:pPr marL="0" indent="0">
              <a:buNone/>
            </a:pPr>
            <a:r>
              <a:rPr lang="fr-FR" sz="3200" dirty="0">
                <a:latin typeface="Baskerville Old Face" panose="02020602080505020303" pitchFamily="18" charset="0"/>
              </a:rPr>
              <a:t>Arborescence du site:</a:t>
            </a:r>
          </a:p>
          <a:p>
            <a:pPr marL="0" indent="0">
              <a:buNone/>
            </a:pPr>
            <a:endParaRPr lang="fr-FR" sz="32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fr-FR" sz="32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fr-FR" sz="32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fr-FR" sz="32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fr-FR" sz="3200" dirty="0">
              <a:latin typeface="Baskerville Old Face" panose="02020602080505020303" pitchFamily="18" charset="0"/>
            </a:endParaRPr>
          </a:p>
          <a:p>
            <a:pPr marL="914400" lvl="2" indent="0">
              <a:buNone/>
            </a:pPr>
            <a:r>
              <a:rPr lang="fr-FR" sz="2000" dirty="0">
                <a:latin typeface="Baskerville Old Face" panose="02020602080505020303" pitchFamily="18" charset="0"/>
              </a:rPr>
              <a:t>⁠ ⁠ ⁠</a:t>
            </a:r>
            <a:endParaRPr lang="fr-FR" dirty="0">
              <a:latin typeface="Baskerville Old Face" panose="02020602080505020303" pitchFamily="18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4115DD1-15D3-E73B-CCE1-CD90BF3A12B9}"/>
              </a:ext>
            </a:extLst>
          </p:cNvPr>
          <p:cNvSpPr/>
          <p:nvPr/>
        </p:nvSpPr>
        <p:spPr>
          <a:xfrm>
            <a:off x="2073368" y="2371074"/>
            <a:ext cx="4234542" cy="176005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atin typeface="Baskerville Old Face" panose="02020602080505020303" pitchFamily="18" charset="0"/>
              </a:rPr>
              <a:t>⁠</a:t>
            </a:r>
            <a:r>
              <a:rPr lang="fr-FR" sz="2000" dirty="0">
                <a:latin typeface="Baskerville Old Face" panose="02020602080505020303" pitchFamily="18" charset="0"/>
              </a:rPr>
              <a:t>index.html⁠ : Fichier racine et structure globale</a:t>
            </a:r>
            <a:r>
              <a:rPr lang="fr-FR" dirty="0">
                <a:latin typeface="Baskerville Old Face" panose="02020602080505020303" pitchFamily="18" charset="0"/>
              </a:rPr>
              <a:t>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5B59F63-73C5-0A92-8BAC-A61BD20D3502}"/>
              </a:ext>
            </a:extLst>
          </p:cNvPr>
          <p:cNvSpPr/>
          <p:nvPr/>
        </p:nvSpPr>
        <p:spPr>
          <a:xfrm>
            <a:off x="6999517" y="2251626"/>
            <a:ext cx="4234542" cy="168814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latin typeface="Baskerville Old Face" panose="02020602080505020303" pitchFamily="18" charset="0"/>
              </a:rPr>
              <a:t>/assets/js/script.js⁠ : Logique fonctionnelle et animations.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719D3CE-5E3A-500F-CE2D-851AACF8AF29}"/>
              </a:ext>
            </a:extLst>
          </p:cNvPr>
          <p:cNvSpPr/>
          <p:nvPr/>
        </p:nvSpPr>
        <p:spPr>
          <a:xfrm>
            <a:off x="2108567" y="4397528"/>
            <a:ext cx="4604660" cy="20900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fr-FR" sz="2000" dirty="0">
                <a:latin typeface="Baskerville Old Face" panose="02020602080505020303" pitchFamily="18" charset="0"/>
              </a:rPr>
              <a:t>⁠/assets/images/⁠ : Ressources graphiques et illustrations.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FC85E37-C74D-2AE9-A2EF-03DE390C4F36}"/>
              </a:ext>
            </a:extLst>
          </p:cNvPr>
          <p:cNvSpPr/>
          <p:nvPr/>
        </p:nvSpPr>
        <p:spPr>
          <a:xfrm>
            <a:off x="7235374" y="4406995"/>
            <a:ext cx="4463143" cy="208289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Baskerville Old Face" panose="02020602080505020303" pitchFamily="18" charset="0"/>
              </a:rPr>
              <a:t>/docs/⁠ : Documentation et supports de présentation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24326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1A5ECA-AB62-B287-2902-DB3F1690C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98718"/>
            <a:ext cx="8947522" cy="980568"/>
          </a:xfrm>
        </p:spPr>
        <p:txBody>
          <a:bodyPr/>
          <a:lstStyle/>
          <a:p>
            <a:r>
              <a:rPr lang="fr-FR" dirty="0">
                <a:latin typeface="Algerian" panose="04020705040A02060702" pitchFamily="82" charset="0"/>
              </a:rPr>
              <a:t>         III. Architecture du site</a:t>
            </a: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7671021-4DFC-1968-3319-9C1967CB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7" y="1611086"/>
            <a:ext cx="11026113" cy="50284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Captures d'écran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200" dirty="0"/>
          </a:p>
          <a:p>
            <a:pPr>
              <a:buFont typeface="Wingdings" panose="05000000000000000000" pitchFamily="2" charset="2"/>
              <a:buChar char="q"/>
            </a:pPr>
            <a:endParaRPr lang="fr-FR" sz="2200" dirty="0"/>
          </a:p>
          <a:p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D4497CE-C3B3-FC8A-5FE2-4FB44CA77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370211"/>
            <a:ext cx="3417888" cy="408586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D440944-F52D-02E1-B94F-507766997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834" y="2370211"/>
            <a:ext cx="3125005" cy="408586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9D3AE41-74B9-506A-01BA-FB7A0189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473" y="2370211"/>
            <a:ext cx="3251200" cy="40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DF588-0333-643D-3B47-D47C1CD2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20" y="337457"/>
            <a:ext cx="8608114" cy="1023257"/>
          </a:xfrm>
        </p:spPr>
        <p:txBody>
          <a:bodyPr/>
          <a:lstStyle/>
          <a:p>
            <a:r>
              <a:rPr lang="fr-FR" dirty="0">
                <a:latin typeface="Algerian" panose="04020705040A02060702" pitchFamily="82" charset="0"/>
              </a:rPr>
              <a:t>               IV. Points techniques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56A5AB-896B-BF3F-B726-3F9372DB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742" y="1360713"/>
            <a:ext cx="10297887" cy="52469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JavaScript</a:t>
            </a:r>
          </a:p>
          <a:p>
            <a:r>
              <a:rPr lang="fr-FR" dirty="0"/>
              <a:t>Fonctionnalités JS:</a:t>
            </a:r>
          </a:p>
          <a:p>
            <a:pPr marL="0" indent="0">
              <a:buNone/>
            </a:pPr>
            <a:r>
              <a:rPr lang="fr-FR" sz="1800" dirty="0"/>
              <a:t>Événements : ⁠addEventListener⁠ (déclenche les actions).DOM : ⁠getElementById⁠ / ⁠querySelectorAll⁠ (cible les éléments).Filtrage : ⁠style.display⁠ (masque/affiche).</a:t>
            </a:r>
          </a:p>
          <a:p>
            <a:pPr marL="0" indent="0">
              <a:buNone/>
            </a:pPr>
            <a:r>
              <a:rPr lang="fr-FR" sz="1800" dirty="0"/>
              <a:t> Nettoyage : ⁠remove()⁠ (efface les erreurs).Validation : ⁠trim()⁠ (vérifie le texte).</a:t>
            </a:r>
          </a:p>
          <a:p>
            <a:pPr marL="0" indent="0">
              <a:buNone/>
            </a:pPr>
            <a:r>
              <a:rPr lang="fr-FR" sz="1800" dirty="0"/>
              <a:t> Contrôle : ⁠preventDefault()⁠ (bloque le rechargement).</a:t>
            </a:r>
          </a:p>
          <a:p>
            <a:pPr marL="0" indent="0">
              <a:buNone/>
            </a:pPr>
            <a:endParaRPr lang="fr-FR" sz="1800" dirty="0"/>
          </a:p>
          <a:p>
            <a:r>
              <a:rPr lang="fr-FR" dirty="0"/>
              <a:t>Extraits de code: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A395B8C-27E0-BD26-D4A9-8A89E5B8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440" y="4169231"/>
            <a:ext cx="6166394" cy="217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8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1C3171-6A87-1FB7-7BDD-108A782C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452718"/>
            <a:ext cx="8219440" cy="1020482"/>
          </a:xfrm>
        </p:spPr>
        <p:txBody>
          <a:bodyPr/>
          <a:lstStyle/>
          <a:p>
            <a:r>
              <a:rPr lang="fr-FR" dirty="0">
                <a:latin typeface="Algerian" panose="04020705040A02060702" pitchFamily="82" charset="0"/>
              </a:rPr>
              <a:t>            IV. Points techniques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66B9AE-0860-A623-9CDA-BC368980F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720" y="1676400"/>
            <a:ext cx="8753566" cy="48441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200" dirty="0">
                <a:latin typeface="Baskerville Old Face" panose="02020602080505020303" pitchFamily="18" charset="0"/>
              </a:rPr>
              <a:t>Bootstrap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Baskerville Old Face" panose="02020602080505020303" pitchFamily="18" charset="0"/>
              </a:rPr>
              <a:t>Composants Bootstrap 5:</a:t>
            </a:r>
          </a:p>
          <a:p>
            <a:pPr marL="40005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 marL="40005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 marL="40005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 marL="40005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>
                <a:latin typeface="Baskerville Old Face" panose="02020602080505020303" pitchFamily="18" charset="0"/>
              </a:rPr>
              <a:t>CSS</a:t>
            </a:r>
            <a:endParaRPr lang="fr-FR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Baskerville Old Face" panose="02020602080505020303" pitchFamily="18" charset="0"/>
              </a:rPr>
              <a:t>CSS avancé: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D71917-6D2B-69AF-645C-674EEA4CCD08}"/>
              </a:ext>
            </a:extLst>
          </p:cNvPr>
          <p:cNvSpPr/>
          <p:nvPr/>
        </p:nvSpPr>
        <p:spPr>
          <a:xfrm>
            <a:off x="5011783" y="1992086"/>
            <a:ext cx="4528457" cy="18832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00050" lvl="1" indent="0">
              <a:buNone/>
            </a:pPr>
            <a:r>
              <a:rPr lang="fr-FR" sz="2000" dirty="0">
                <a:latin typeface="Baskerville Old Face" panose="02020602080505020303" pitchFamily="18" charset="0"/>
              </a:rPr>
              <a:t>Système de Grille : Mise en page responsive (⁠container⁠, ⁠row⁠, ⁠col⁠). Composants UI : Utilisation de la ⁠Navbar⁠ et des ⁠Cards⁠.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58E20E-963E-DC45-2767-CEA9ECA9B260}"/>
              </a:ext>
            </a:extLst>
          </p:cNvPr>
          <p:cNvSpPr/>
          <p:nvPr/>
        </p:nvSpPr>
        <p:spPr>
          <a:xfrm>
            <a:off x="4572000" y="4702629"/>
            <a:ext cx="4865914" cy="171353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00050" lvl="1" indent="0">
              <a:buNone/>
            </a:pPr>
            <a:r>
              <a:rPr lang="fr-FR" sz="2000" dirty="0">
                <a:latin typeface="Baskerville Old Face" panose="02020602080505020303" pitchFamily="18" charset="0"/>
              </a:rPr>
              <a:t>Layout : Architecture en Bento Grid (CSS Grid). Maintenance : Variables CSS (⁠:root⁠) et transitions fluides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8780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B5FF5-C685-3B51-21CE-ACB1431F5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452718"/>
            <a:ext cx="9227874" cy="1400530"/>
          </a:xfrm>
        </p:spPr>
        <p:txBody>
          <a:bodyPr/>
          <a:lstStyle/>
          <a:p>
            <a:r>
              <a:rPr lang="fr-FR" dirty="0">
                <a:latin typeface="Algerian" panose="04020705040A02060702" pitchFamily="82" charset="0"/>
              </a:rPr>
              <a:t>V. Gestion du projet avec 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0E06E-442E-9E07-12B9-46407C26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800" dirty="0"/>
              <a:t> </a:t>
            </a:r>
            <a:r>
              <a:rPr lang="fr-FR" sz="2200" dirty="0"/>
              <a:t>Historique des commits :</a:t>
            </a:r>
          </a:p>
          <a:p>
            <a:pPr lvl="2"/>
            <a:r>
              <a:rPr lang="fr-FR" sz="2000" dirty="0"/>
              <a:t> </a:t>
            </a:r>
            <a:r>
              <a:rPr lang="fr-FR" sz="2000" dirty="0">
                <a:latin typeface="Baskerville Old Face" panose="02020602080505020303" pitchFamily="18" charset="0"/>
              </a:rPr>
              <a:t>Suivi itératif : chaque étape majeure est enregistrée (commits).</a:t>
            </a:r>
          </a:p>
          <a:p>
            <a:pPr lvl="2"/>
            <a:r>
              <a:rPr lang="fr-FR" sz="2000" dirty="0">
                <a:latin typeface="Baskerville Old Face" panose="02020602080505020303" pitchFamily="18" charset="0"/>
              </a:rPr>
              <a:t> Traçabilité complète des modifications (⁠git log⁠).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>
                <a:latin typeface="Baskerville Old Face" panose="02020602080505020303" pitchFamily="18" charset="0"/>
              </a:rPr>
              <a:t> Workflow Git :</a:t>
            </a:r>
          </a:p>
          <a:p>
            <a:pPr lvl="2"/>
            <a:r>
              <a:rPr lang="fr-FR" sz="2200" dirty="0">
                <a:latin typeface="Baskerville Old Face" panose="02020602080505020303" pitchFamily="18" charset="0"/>
              </a:rPr>
              <a:t> </a:t>
            </a:r>
            <a:r>
              <a:rPr lang="fr-FR" sz="2000" dirty="0">
                <a:latin typeface="Baskerville Old Face" panose="02020602080505020303" pitchFamily="18" charset="0"/>
              </a:rPr>
              <a:t>Processus standard : ⁠add⁠ → ⁠commit⁠ → ⁠push</a:t>
            </a:r>
            <a:r>
              <a:rPr lang="fr-FR" sz="2200" dirty="0">
                <a:latin typeface="Baskerville Old Face" panose="02020602080505020303" pitchFamily="18" charset="0"/>
              </a:rPr>
              <a:t>⁠.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>
                <a:latin typeface="Baskerville Old Face" panose="02020602080505020303" pitchFamily="18" charset="0"/>
              </a:rPr>
              <a:t> Déploiement :</a:t>
            </a:r>
          </a:p>
          <a:p>
            <a:pPr lvl="2"/>
            <a:r>
              <a:rPr lang="fr-FR" sz="2200" dirty="0">
                <a:latin typeface="Baskerville Old Face" panose="02020602080505020303" pitchFamily="18" charset="0"/>
              </a:rPr>
              <a:t> </a:t>
            </a:r>
            <a:r>
              <a:rPr lang="fr-FR" sz="2000" dirty="0">
                <a:latin typeface="Baskerville Old Face" panose="02020602080505020303" pitchFamily="18" charset="0"/>
              </a:rPr>
              <a:t>Hébergement automatique via GitHub Pages.</a:t>
            </a:r>
          </a:p>
          <a:p>
            <a:pPr lvl="2"/>
            <a:r>
              <a:rPr lang="fr-FR" sz="2000" dirty="0">
                <a:latin typeface="Baskerville Old Face" panose="02020602080505020303" pitchFamily="18" charset="0"/>
              </a:rPr>
              <a:t> URL : ⁠https://anrafasaid35-said.github.io/ANRAFA-SAID-AfriTalent</a:t>
            </a:r>
            <a:r>
              <a:rPr lang="fr-FR" sz="2000" dirty="0"/>
              <a:t>/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97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B5AC4-0A2C-BDBB-9456-2C991E66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83028"/>
            <a:ext cx="9404723" cy="1062451"/>
          </a:xfrm>
        </p:spPr>
        <p:txBody>
          <a:bodyPr/>
          <a:lstStyle/>
          <a:p>
            <a:r>
              <a:rPr lang="fr-FR" dirty="0">
                <a:latin typeface="Algerian" panose="04020705040A02060702" pitchFamily="82" charset="0"/>
              </a:rPr>
              <a:t>      VI.  Difficultés rencontrées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A1D10F-8377-DA75-ABF8-522C9D784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24000"/>
            <a:ext cx="10196059" cy="50509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200" dirty="0">
                <a:latin typeface="Baskerville Old Face" panose="02020602080505020303" pitchFamily="18" charset="0"/>
              </a:rPr>
              <a:t>Gestion du mode sombre </a:t>
            </a:r>
            <a:r>
              <a:rPr lang="fr-FR" dirty="0"/>
              <a:t>: </a:t>
            </a:r>
          </a:p>
          <a:p>
            <a:pPr marL="45720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 marL="45720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 marL="45720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 marL="457200" lvl="1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200" dirty="0"/>
              <a:t> </a:t>
            </a:r>
            <a:r>
              <a:rPr lang="fr-FR" sz="2200" dirty="0">
                <a:latin typeface="Baskerville Old Face" panose="02020602080505020303" pitchFamily="18" charset="0"/>
              </a:rPr>
              <a:t>Animations JS </a:t>
            </a:r>
            <a:r>
              <a:rPr lang="fr-FR" dirty="0"/>
              <a:t>: </a:t>
            </a:r>
          </a:p>
          <a:p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2BD8EF-7B2E-772E-D4CD-369D37774C3A}"/>
              </a:ext>
            </a:extLst>
          </p:cNvPr>
          <p:cNvSpPr/>
          <p:nvPr/>
        </p:nvSpPr>
        <p:spPr>
          <a:xfrm>
            <a:off x="5010748" y="1944191"/>
            <a:ext cx="5497287" cy="205086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latin typeface="Baskerville Old Face" panose="02020602080505020303" pitchFamily="18" charset="0"/>
              </a:rPr>
              <a:t>Défi : Synchronisation de l'état du thème entre les pages.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latin typeface="Baskerville Old Face" panose="02020602080505020303" pitchFamily="18" charset="0"/>
              </a:rPr>
              <a:t> Solution : Utilisation du localStorage pour persister le choix de l'utilisateur</a:t>
            </a:r>
            <a:r>
              <a:rPr lang="fr-FR" sz="1800" dirty="0">
                <a:latin typeface="Baskerville Old Face" panose="02020602080505020303" pitchFamily="18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C5EEB-1B13-0938-0656-85F731B0F0CB}"/>
              </a:ext>
            </a:extLst>
          </p:cNvPr>
          <p:cNvSpPr/>
          <p:nvPr/>
        </p:nvSpPr>
        <p:spPr>
          <a:xfrm>
            <a:off x="3548743" y="4441372"/>
            <a:ext cx="5823856" cy="20508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latin typeface="Baskerville Old Face" panose="02020602080505020303" pitchFamily="18" charset="0"/>
              </a:rPr>
              <a:t>Défi : Performance du rendu lors des déclenchements au scroll.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>
                <a:latin typeface="Baskerville Old Face" panose="02020602080505020303" pitchFamily="18" charset="0"/>
              </a:rPr>
              <a:t> Solution : Optimisation via des fonctions de Throttling et transitions CSS3.</a:t>
            </a:r>
          </a:p>
        </p:txBody>
      </p:sp>
    </p:spTree>
    <p:extLst>
      <p:ext uri="{BB962C8B-B14F-4D97-AF65-F5344CB8AC3E}">
        <p14:creationId xmlns:p14="http://schemas.microsoft.com/office/powerpoint/2010/main" val="67062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440192-333A-B8CE-0C8E-6D02D259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</a:t>
            </a:r>
            <a:r>
              <a:rPr lang="fr-FR" dirty="0">
                <a:latin typeface="Algerian" panose="04020705040A02060702" pitchFamily="82" charset="0"/>
              </a:rPr>
              <a:t>VII. Ressources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8BD2C-5A8A-6993-2EBE-D60A07BA1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556" y="1853248"/>
            <a:ext cx="9404724" cy="43951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dirty="0"/>
              <a:t> </a:t>
            </a:r>
            <a:r>
              <a:rPr lang="fr-FR" sz="2200" dirty="0">
                <a:latin typeface="Baskerville Old Face" panose="02020602080505020303" pitchFamily="18" charset="0"/>
              </a:rPr>
              <a:t>Documentation</a:t>
            </a:r>
            <a:r>
              <a:rPr lang="fr-FR" dirty="0">
                <a:latin typeface="Baskerville Old Face" panose="02020602080505020303" pitchFamily="18" charset="0"/>
              </a:rPr>
              <a:t> </a:t>
            </a:r>
            <a:r>
              <a:rPr lang="fr-FR" dirty="0"/>
              <a:t>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000" dirty="0">
                <a:latin typeface="Baskerville Old Face" panose="02020602080505020303" pitchFamily="18" charset="0"/>
              </a:rPr>
              <a:t> Bootstrap 5, MDN Web Docs, W3Schools.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000" dirty="0">
                <a:latin typeface="Baskerville Old Face" panose="02020602080505020303" pitchFamily="18" charset="0"/>
              </a:rPr>
              <a:t> Langages : HTML5, CSS3, JavaScript ES6+.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/>
              <a:t> </a:t>
            </a:r>
            <a:r>
              <a:rPr lang="fr-FR" sz="2200" dirty="0">
                <a:latin typeface="Baskerville Old Face" panose="02020602080505020303" pitchFamily="18" charset="0"/>
              </a:rPr>
              <a:t>Outils &amp; Gestion </a:t>
            </a:r>
            <a:r>
              <a:rPr lang="fr-FR" dirty="0">
                <a:latin typeface="Baskerville Old Face" panose="02020602080505020303" pitchFamily="18" charset="0"/>
              </a:rPr>
              <a:t>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000" dirty="0">
                <a:latin typeface="Baskerville Old Face" panose="02020602080505020303" pitchFamily="18" charset="0"/>
              </a:rPr>
              <a:t> Éditeur : Visual Studio Code.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000" dirty="0">
                <a:latin typeface="Baskerville Old Face" panose="02020602080505020303" pitchFamily="18" charset="0"/>
              </a:rPr>
              <a:t> Versionnage : Git &amp; GitHub (Workflow ⁠add/commit/push⁠).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000" dirty="0">
                <a:latin typeface="Baskerville Old Face" panose="02020602080505020303" pitchFamily="18" charset="0"/>
              </a:rPr>
              <a:t> Hébergement : GitHub Pages</a:t>
            </a:r>
            <a:r>
              <a:rPr lang="fr-FR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/>
              <a:t> </a:t>
            </a:r>
            <a:r>
              <a:rPr lang="fr-FR" sz="2200" dirty="0">
                <a:latin typeface="Baskerville Old Face" panose="02020602080505020303" pitchFamily="18" charset="0"/>
              </a:rPr>
              <a:t>Assets &amp; Design </a:t>
            </a:r>
            <a:r>
              <a:rPr lang="fr-FR" sz="2200" dirty="0"/>
              <a:t>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000" dirty="0">
                <a:latin typeface="Baskerville Old Face" panose="02020602080505020303" pitchFamily="18" charset="0"/>
              </a:rPr>
              <a:t> Design : Architecture Bento Grid &amp; Mobile First.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2000" dirty="0">
                <a:latin typeface="Baskerville Old Face" panose="02020602080505020303" pitchFamily="18" charset="0"/>
              </a:rPr>
              <a:t> Ressources : Font Awesome (Icônes), Google Fonts (Roboto).</a:t>
            </a:r>
          </a:p>
        </p:txBody>
      </p:sp>
    </p:spTree>
    <p:extLst>
      <p:ext uri="{BB962C8B-B14F-4D97-AF65-F5344CB8AC3E}">
        <p14:creationId xmlns:p14="http://schemas.microsoft.com/office/powerpoint/2010/main" val="251712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84392F-1831-14E3-94BB-308552F5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731520"/>
            <a:ext cx="9258354" cy="1127760"/>
          </a:xfrm>
        </p:spPr>
        <p:txBody>
          <a:bodyPr/>
          <a:lstStyle/>
          <a:p>
            <a:r>
              <a:rPr lang="fr-FR" dirty="0"/>
              <a:t>      </a:t>
            </a:r>
            <a:r>
              <a:rPr lang="fr-FR" dirty="0">
                <a:latin typeface="Algerian" panose="04020705040A02060702" pitchFamily="82" charset="0"/>
              </a:rPr>
              <a:t>VIII. Démonstration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CFB0B3-83A0-A548-2C30-861E61FDF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407920"/>
            <a:ext cx="8946541" cy="3840479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>
                <a:latin typeface="Baskerville Old Face" panose="02020602080505020303" pitchFamily="18" charset="0"/>
              </a:rPr>
              <a:t>Présentation en direct des fonctionnalités.</a:t>
            </a:r>
          </a:p>
          <a:p>
            <a:endParaRPr lang="fr-FR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r>
              <a:rPr lang="fr-FR" dirty="0">
                <a:latin typeface="Baskerville Old Face" panose="02020602080505020303" pitchFamily="18" charset="0"/>
              </a:rPr>
              <a:t> Cliquez ici pour acceder au site</a:t>
            </a:r>
            <a:r>
              <a:rPr lang="fr-FR" b="1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r>
              <a:rPr lang="fr-FR" b="1" i="0" u="sng" dirty="0">
                <a:solidFill>
                  <a:srgbClr val="0969DA"/>
                </a:solidFill>
                <a:effectLst/>
                <a:latin typeface="Baskerville Old Face" panose="02020602080505020303" pitchFamily="18" charset="0"/>
                <a:hlinkClick r:id="rId2"/>
              </a:rPr>
              <a:t>https://anrafasaid35-said.github.io/ANRAFA-SAID-AfriTalent/</a:t>
            </a:r>
            <a:endParaRPr lang="fr-FR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5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5F8631-20CF-71D6-8B7D-6B52570B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79842"/>
          </a:xfrm>
        </p:spPr>
        <p:txBody>
          <a:bodyPr/>
          <a:lstStyle/>
          <a:p>
            <a:r>
              <a:rPr lang="fr-FR" dirty="0">
                <a:latin typeface="Algerian" panose="04020705040A02060702" pitchFamily="82" charset="0"/>
              </a:rPr>
              <a:t>              IX. 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ED736B-C2C5-47F2-C629-FFA6FC907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864" y="1556658"/>
            <a:ext cx="9404722" cy="476794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A6DA65C-3DD5-E515-C0B6-72385A9E00AA}"/>
              </a:ext>
            </a:extLst>
          </p:cNvPr>
          <p:cNvSpPr/>
          <p:nvPr/>
        </p:nvSpPr>
        <p:spPr>
          <a:xfrm>
            <a:off x="1178560" y="1698171"/>
            <a:ext cx="9231588" cy="407670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latin typeface="Baskerville Old Face" panose="02020602080505020303" pitchFamily="18" charset="0"/>
              </a:rPr>
              <a:t>En somme , ce projet fonctionnel :  Site web opérationnel, responsive et déployée en ligne.</a:t>
            </a:r>
          </a:p>
          <a:p>
            <a:endParaRPr lang="fr-FR" sz="2000" dirty="0">
              <a:latin typeface="Baskerville Old Face" panose="02020602080505020303" pitchFamily="18" charset="0"/>
            </a:endParaRPr>
          </a:p>
          <a:p>
            <a:r>
              <a:rPr lang="fr-FR" sz="2000" dirty="0">
                <a:latin typeface="Baskerville Old Face" panose="02020602080505020303" pitchFamily="18" charset="0"/>
              </a:rPr>
              <a:t>Conformité :  Respect intégral du cahier des charges et des exigences pédagogiques.</a:t>
            </a:r>
          </a:p>
          <a:p>
            <a:endParaRPr lang="fr-FR" sz="2000" dirty="0">
              <a:latin typeface="Baskerville Old Face" panose="02020602080505020303" pitchFamily="18" charset="0"/>
            </a:endParaRPr>
          </a:p>
          <a:p>
            <a:r>
              <a:rPr lang="fr-FR" sz="2000" dirty="0">
                <a:latin typeface="Baskerville Old Face" panose="02020602080505020303" pitchFamily="18" charset="0"/>
              </a:rPr>
              <a:t> Compétences acquises :  Maîtrise de la chaîne de développement (HTML/CSS/JS, Bootstrap, Git).</a:t>
            </a:r>
          </a:p>
        </p:txBody>
      </p:sp>
    </p:spTree>
    <p:extLst>
      <p:ext uri="{BB962C8B-B14F-4D97-AF65-F5344CB8AC3E}">
        <p14:creationId xmlns:p14="http://schemas.microsoft.com/office/powerpoint/2010/main" val="32021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38EA1-453B-B635-F71F-A73677C7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52718"/>
            <a:ext cx="9034834" cy="1010322"/>
          </a:xfrm>
        </p:spPr>
        <p:txBody>
          <a:bodyPr/>
          <a:lstStyle/>
          <a:p>
            <a:r>
              <a:rPr lang="fr-FR" dirty="0">
                <a:latin typeface="Algerian" panose="04020705040A02060702" pitchFamily="82" charset="0"/>
              </a:rPr>
              <a:t>               IX. 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1DDD01-C8B5-93E9-8ED6-C82A4BB0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850572"/>
            <a:ext cx="8708733" cy="43978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latin typeface="Baskerville Old Face" panose="02020602080505020303" pitchFamily="18" charset="0"/>
              </a:rPr>
              <a:t>Perspectives d'amélioration: </a:t>
            </a:r>
          </a:p>
          <a:p>
            <a:pPr marL="914400" lvl="2" indent="0">
              <a:buNone/>
            </a:pPr>
            <a:r>
              <a:rPr lang="fr-FR" sz="2000" dirty="0">
                <a:latin typeface="Baskerville Old Face" panose="02020602080505020303" pitchFamily="18" charset="0"/>
              </a:rPr>
              <a:t>Backend : Intégration d'une base de données pour la gestion dynamique des offres. Espace membre : Mise en place d'une authentification sécurisée (Inscription/Connexion).</a:t>
            </a:r>
          </a:p>
          <a:p>
            <a:pPr marL="914400" lvl="2" indent="0">
              <a:buNone/>
            </a:pPr>
            <a:endParaRPr lang="fr-FR" sz="2000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latin typeface="Baskerville Old Face" panose="02020602080505020303" pitchFamily="18" charset="0"/>
              </a:rPr>
              <a:t>Améliorations futures du projet. Architecture : </a:t>
            </a:r>
          </a:p>
          <a:p>
            <a:pPr marL="914400" lvl="2" indent="0">
              <a:buNone/>
            </a:pPr>
            <a:r>
              <a:rPr lang="fr-FR" sz="2000" dirty="0">
                <a:latin typeface="Baskerville Old Face" panose="02020602080505020303" pitchFamily="18" charset="0"/>
              </a:rPr>
              <a:t>Adoption systématique d'une structure MVC (Modèle-Vue-Contrôleur) dès la conception. Performance : Optimisation accrue des assets et mise en place de tests unitaires dès le début du développement.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648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B5F1C3-BDEE-96BE-74B9-602BCE7234A5}"/>
              </a:ext>
            </a:extLst>
          </p:cNvPr>
          <p:cNvSpPr/>
          <p:nvPr/>
        </p:nvSpPr>
        <p:spPr>
          <a:xfrm>
            <a:off x="2407920" y="2286000"/>
            <a:ext cx="6990080" cy="252983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">
              <a:avLst/>
            </a:prstTxWarp>
            <a:spAutoFit/>
          </a:bodyPr>
          <a:lstStyle/>
          <a:p>
            <a:pPr algn="ctr"/>
            <a:r>
              <a:rPr lang="fr-F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Bodoni MT Black" panose="02070A03080606020203" pitchFamily="18" charset="0"/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23400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1458</TotalTime>
  <Words>844</Words>
  <Application>Microsoft Office PowerPoint</Application>
  <PresentationFormat>Grand écran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Algerian</vt:lpstr>
      <vt:lpstr>Arial</vt:lpstr>
      <vt:lpstr>Arial Black</vt:lpstr>
      <vt:lpstr>Baskerville Old Face</vt:lpstr>
      <vt:lpstr>Bodoni MT Black</vt:lpstr>
      <vt:lpstr>Cambria Math</vt:lpstr>
      <vt:lpstr>Century Gothic</vt:lpstr>
      <vt:lpstr>Mona Sans VF</vt:lpstr>
      <vt:lpstr>Wingdings</vt:lpstr>
      <vt:lpstr>Wingdings 3</vt:lpstr>
      <vt:lpstr>Ion</vt:lpstr>
      <vt:lpstr>AFRITALANT</vt:lpstr>
      <vt:lpstr>                 SOMMAIRE  </vt:lpstr>
      <vt:lpstr>           I. Présentation du projet  </vt:lpstr>
      <vt:lpstr>            II. Choix du design </vt:lpstr>
      <vt:lpstr>         III. Architecture du site</vt:lpstr>
      <vt:lpstr>         III. Architecture du site</vt:lpstr>
      <vt:lpstr>               IV. Points techniques</vt:lpstr>
      <vt:lpstr>            IV. Points techniques</vt:lpstr>
      <vt:lpstr>V. Gestion du projet avec GitHub</vt:lpstr>
      <vt:lpstr>      VI.  Difficultés rencontrées</vt:lpstr>
      <vt:lpstr>         VII. Ressources utilisées</vt:lpstr>
      <vt:lpstr>      VIII. Démonstration du site</vt:lpstr>
      <vt:lpstr>              IX.  Conclusion</vt:lpstr>
      <vt:lpstr>               IX.  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AFRITALANT</dc:title>
  <dc:creator>Anrafa Said</dc:creator>
  <cp:lastModifiedBy>Anrafa Said</cp:lastModifiedBy>
  <cp:revision>6</cp:revision>
  <dcterms:created xsi:type="dcterms:W3CDTF">2026-06-17T16:03:36Z</dcterms:created>
  <dcterms:modified xsi:type="dcterms:W3CDTF">2026-06-23T21:49:20Z</dcterms:modified>
</cp:coreProperties>
</file>